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0:00 - 0:25</a:t>
            </a:r>
          </a:p>
          <a:p>
            <a:r>
              <a:t>SAY: Good morning members of the jury. My name is [Your Name], and today we are presenting Doc-Debt Tracker—an automated system that keeps both technical and business documentation in continuous sync with your code, directly triggered by GitHub Pull Requests.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0:25 - 1:10</a:t>
            </a:r>
          </a:p>
          <a:p>
            <a:r>
              <a:t>SAY: As developers, we have all lived through this scenario: you finish a feature, write tests, open a PR, and get it merged. You tell yourself, 'I'll update the architecture document tomorrow.' But tomorrow never comes. Worse, documentation has two distinct audiences: Engineers (who need schemas and API routes) and Product Managers (who need user features). Linters only catch typos, not architectural drift. That's the gap Doc-Debt Tracker solves.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1:10 - 1:55</a:t>
            </a:r>
          </a:p>
          <a:p>
            <a:r>
              <a:t>SAY: Rather than asking developers to write docs after every sprint, our system listens to GitHub webhooks. 1) When a PR merges, we receive the diff and verify security. 2) OpenRouter creates structured dual summaries—technical and business. 3) When changes reach the threshold, our synthesizer updates the existing markdown and commits directly back to GitHub. Let's inspect the system via screenshots.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1:55 - 2:45</a:t>
            </a:r>
          </a:p>
          <a:p>
            <a:r>
              <a:t>SAY: When a PR is opened or merged, our Spring Boot service returns an immediate 202 Accepted so GitHub's 10-second timeout is never hit. Our ModuleResolver parses the git diff paths, strips package noise, and maps changes to modules like AuthService. As shown here, it can post a concise impact comment right on the PR.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2:45 - 3:35</a:t>
            </a:r>
          </a:p>
          <a:p>
            <a:r>
              <a:t>SAY: Here is our React dashboard. The Debt Heatmap gives leads an instant view of documentation freshness across modules. Our volatility formula combines pending PRs and days since the last update. Modules turn yellow and red as PRs merge. Maintainers can let the threshold trigger auto-healing or click 'Heal Now' on demand.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3:35 - 4:15</a:t>
            </a:r>
          </a:p>
          <a:p>
            <a:r>
              <a:t>SAY: When healing runs, our Diff View shows what actually changed. The LLM does not wipe out the file. As highlighted in green, new OAuth2 endpoints and database fields are inserted into the existing section structure. With one click, maintainers can toggle between Technical HLD and Business Feature specs. The updated draft is auto-committed to GitHub.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4:15 - 4:45</a:t>
            </a:r>
          </a:p>
          <a:p>
            <a:r>
              <a:t>SAY: To make this safe for real teams, we implemented 4 guardrails: 1) Anti-hallucination rules forcing 'Not specified' instead of fake APIs. 2) Diff noise filtering and token budgets. 3) OpenRouter flexibility to keep costs near zero. 4) XML prompt-injection defense treating all PR diffs as untrusted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4:45 - 5:00</a:t>
            </a:r>
          </a:p>
          <a:p>
            <a:r>
              <a:t>SAY: Today, our system reliably reads and commits docs directly to GitHub Markdown. On our next milestone, we are finishing cloud storage connectors for SharePoint and OneDrive so non-technical stakeholders can access specs in Microsoft 365. Doc-Debt Tracker turns documentation from a neglected chore into an automatic background process. Thank you, and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097280"/>
            <a:ext cx="9445752" cy="4663440"/>
          </a:xfrm>
          <a:prstGeom prst="roundRect">
            <a:avLst/>
          </a:prstGeom>
          <a:solidFill>
            <a:srgbClr val="111827"/>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1645920"/>
            <a:ext cx="8531352" cy="3474720"/>
          </a:xfrm>
          <a:prstGeom prst="rect">
            <a:avLst/>
          </a:prstGeom>
          <a:noFill/>
        </p:spPr>
        <p:txBody>
          <a:bodyPr wrap="square">
            <a:spAutoFit/>
          </a:bodyPr>
          <a:lstStyle/>
          <a:p>
            <a:pPr>
              <a:defRPr sz="1200" b="1">
                <a:solidFill>
                  <a:srgbClr val="38BDF8"/>
                </a:solidFill>
                <a:latin typeface="Arial"/>
              </a:defRPr>
            </a:pPr>
            <a:r>
              <a:t>EVENT-DRIVEN DEVELOPER AUTOMATION</a:t>
            </a:r>
          </a:p>
          <a:p>
            <a:pPr>
              <a:defRPr sz="4000" b="1">
                <a:solidFill>
                  <a:srgbClr val="F8FAFC"/>
                </a:solidFill>
                <a:latin typeface="Arial"/>
              </a:defRPr>
            </a:pPr>
            <a:r>
              <a:t>Doc-Debt Tracker</a:t>
            </a:r>
          </a:p>
          <a:p>
            <a:pPr>
              <a:defRPr sz="1800">
                <a:solidFill>
                  <a:srgbClr val="34D399"/>
                </a:solidFill>
                <a:latin typeface="Arial"/>
              </a:defRPr>
            </a:pPr>
            <a:r>
              <a:t>Automated Self-Healing Documentation via GitHub Pull Requests</a:t>
            </a:r>
          </a:p>
          <a:p>
            <a:br/>
            <a:pPr>
              <a:defRPr sz="1400">
                <a:solidFill>
                  <a:srgbClr val="94A3B8"/>
                </a:solidFill>
                <a:latin typeface="Arial"/>
              </a:defRPr>
            </a:pPr>
            <a:r>
              <a:t>• Synchronizing Technical HLD/LLD &amp; Business Feature Specs in Real Time</a:t>
            </a:r>
          </a:p>
          <a:p>
            <a:pPr>
              <a:defRPr sz="1400">
                <a:solidFill>
                  <a:srgbClr val="94A3B8"/>
                </a:solidFill>
                <a:latin typeface="Arial"/>
              </a:defRPr>
            </a:pPr>
            <a:r>
              <a:t>• Powered by Spring Boot 3 &amp; OpenRouter LLM Orchestration</a:t>
            </a:r>
          </a:p>
          <a:p>
            <a:br/>
            <a:pPr>
              <a:defRPr sz="1300">
                <a:solidFill>
                  <a:srgbClr val="64748B"/>
                </a:solidFill>
                <a:latin typeface="Arial"/>
              </a:defRPr>
            </a:pPr>
            <a:r>
              <a:t>Presented by: Engineering Team  |  Hackathon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9144000" cy="365760"/>
          </a:xfrm>
          <a:prstGeom prst="rect">
            <a:avLst/>
          </a:prstGeom>
          <a:noFill/>
        </p:spPr>
        <p:txBody>
          <a:bodyPr wrap="square" lIns="0" tIns="0" rIns="0" bIns="0">
            <a:spAutoFit/>
          </a:bodyPr>
          <a:lstStyle/>
          <a:p>
            <a:pPr>
              <a:defRPr sz="1100" b="1">
                <a:solidFill>
                  <a:srgbClr val="38BDF8"/>
                </a:solidFill>
                <a:latin typeface="Arial"/>
              </a:defRPr>
            </a:pPr>
            <a:r>
              <a:t>THE REAL-WORLD DILEMMA</a:t>
            </a:r>
          </a:p>
        </p:txBody>
      </p:sp>
      <p:sp>
        <p:nvSpPr>
          <p:cNvPr id="4" name="TextBox 3"/>
          <p:cNvSpPr txBox="1"/>
          <p:nvPr/>
        </p:nvSpPr>
        <p:spPr>
          <a:xfrm>
            <a:off x="731520" y="777240"/>
            <a:ext cx="10515600" cy="640080"/>
          </a:xfrm>
          <a:prstGeom prst="rect">
            <a:avLst/>
          </a:prstGeom>
          <a:noFill/>
        </p:spPr>
        <p:txBody>
          <a:bodyPr wrap="square" lIns="0" tIns="0" rIns="0" bIns="0">
            <a:spAutoFit/>
          </a:bodyPr>
          <a:lstStyle/>
          <a:p>
            <a:pPr>
              <a:defRPr sz="2400" b="1">
                <a:solidFill>
                  <a:srgbClr val="F8FAFC"/>
                </a:solidFill>
                <a:latin typeface="Arial"/>
              </a:defRPr>
            </a:pPr>
            <a:r>
              <a:t>The Silent Killer of Velocity: Documentation Drift</a:t>
            </a:r>
          </a:p>
          <a:p>
            <a:pPr>
              <a:defRPr sz="1300">
                <a:solidFill>
                  <a:srgbClr val="94A3B8"/>
                </a:solidFill>
                <a:latin typeface="Arial"/>
              </a:defRPr>
            </a:pPr>
            <a:r>
              <a:t>Why code ships in minutes, but documentation remains months out of date</a:t>
            </a:r>
          </a:p>
        </p:txBody>
      </p:sp>
      <p:sp>
        <p:nvSpPr>
          <p:cNvPr id="5" name="Rounded Rectangle 4"/>
          <p:cNvSpPr/>
          <p:nvPr/>
        </p:nvSpPr>
        <p:spPr>
          <a:xfrm>
            <a:off x="731520" y="1645920"/>
            <a:ext cx="5120640" cy="4389120"/>
          </a:xfrm>
          <a:prstGeom prst="roundRect">
            <a:avLst/>
          </a:prstGeom>
          <a:solidFill>
            <a:srgbClr val="161E2E"/>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4572000" cy="3840480"/>
          </a:xfrm>
          <a:prstGeom prst="rect">
            <a:avLst/>
          </a:prstGeom>
          <a:noFill/>
        </p:spPr>
        <p:txBody>
          <a:bodyPr wrap="square">
            <a:spAutoFit/>
          </a:bodyPr>
          <a:lstStyle/>
          <a:p>
            <a:pPr>
              <a:defRPr sz="1200" b="1">
                <a:solidFill>
                  <a:srgbClr val="38BDF8"/>
                </a:solidFill>
                <a:latin typeface="Arial"/>
              </a:defRPr>
            </a:pPr>
            <a:r>
              <a:t>AUDIENCE 1: SOFTWARE ENGINEERS</a:t>
            </a:r>
          </a:p>
          <a:p>
            <a:pPr>
              <a:defRPr sz="1800" b="1">
                <a:solidFill>
                  <a:srgbClr val="F8FAFC"/>
                </a:solidFill>
                <a:latin typeface="Arial"/>
              </a:defRPr>
            </a:pPr>
            <a:r>
              <a:t>Technical HLD / LLD Out of Sync</a:t>
            </a:r>
          </a:p>
          <a:p>
            <a:pPr>
              <a:defRPr sz="1300">
                <a:solidFill>
                  <a:srgbClr val="94A3B8"/>
                </a:solidFill>
                <a:latin typeface="Arial"/>
              </a:defRPr>
            </a:pPr>
            <a:r>
              <a:t>• Pull requests add endpoints, modify database schemas, or adjust retry logic.</a:t>
            </a:r>
          </a:p>
          <a:p>
            <a:pPr>
              <a:defRPr sz="1300">
                <a:solidFill>
                  <a:srgbClr val="94A3B8"/>
                </a:solidFill>
                <a:latin typeface="Arial"/>
              </a:defRPr>
            </a:pPr>
            <a:r>
              <a:t>• Updating architecture docs is manual, friction-heavy, and easily forgotten.</a:t>
            </a:r>
          </a:p>
          <a:p>
            <a:pPr>
              <a:defRPr sz="1300">
                <a:solidFill>
                  <a:srgbClr val="94A3B8"/>
                </a:solidFill>
                <a:latin typeface="Arial"/>
              </a:defRPr>
            </a:pPr>
            <a:r>
              <a:t>• New developers onboard onto inaccurate design specs, wasting sprint hours.</a:t>
            </a:r>
          </a:p>
          <a:p>
            <a:pPr>
              <a:defRPr sz="1300">
                <a:solidFill>
                  <a:srgbClr val="94A3B8"/>
                </a:solidFill>
                <a:latin typeface="Arial"/>
              </a:defRPr>
            </a:pPr>
            <a:r>
              <a:t>• Traditional linters only check markdown syntax, not architectural truth.</a:t>
            </a:r>
          </a:p>
        </p:txBody>
      </p:sp>
      <p:sp>
        <p:nvSpPr>
          <p:cNvPr id="7" name="Rounded Rectangle 6"/>
          <p:cNvSpPr/>
          <p:nvPr/>
        </p:nvSpPr>
        <p:spPr>
          <a:xfrm>
            <a:off x="6309360" y="1645920"/>
            <a:ext cx="5120640" cy="4389120"/>
          </a:xfrm>
          <a:prstGeom prst="roundRect">
            <a:avLst/>
          </a:prstGeom>
          <a:solidFill>
            <a:srgbClr val="161E2E"/>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920240"/>
            <a:ext cx="4572000" cy="3840480"/>
          </a:xfrm>
          <a:prstGeom prst="rect">
            <a:avLst/>
          </a:prstGeom>
          <a:noFill/>
        </p:spPr>
        <p:txBody>
          <a:bodyPr wrap="square">
            <a:spAutoFit/>
          </a:bodyPr>
          <a:lstStyle/>
          <a:p>
            <a:pPr>
              <a:defRPr sz="1200" b="1">
                <a:solidFill>
                  <a:srgbClr val="FBBF24"/>
                </a:solidFill>
                <a:latin typeface="Arial"/>
              </a:defRPr>
            </a:pPr>
            <a:r>
              <a:t>AUDIENCE 2: PRODUCT &amp; STAKEHOLDERS</a:t>
            </a:r>
          </a:p>
          <a:p>
            <a:pPr>
              <a:defRPr sz="1800" b="1">
                <a:solidFill>
                  <a:srgbClr val="F8FAFC"/>
                </a:solidFill>
                <a:latin typeface="Arial"/>
              </a:defRPr>
            </a:pPr>
            <a:r>
              <a:t>Business Specs Lag Behind</a:t>
            </a:r>
          </a:p>
          <a:p>
            <a:pPr>
              <a:defRPr sz="1300">
                <a:solidFill>
                  <a:srgbClr val="94A3B8"/>
                </a:solidFill>
                <a:latin typeface="Arial"/>
              </a:defRPr>
            </a:pPr>
            <a:r>
              <a:t>• Product Managers, support, and compliance need plain-English functionality.</a:t>
            </a:r>
          </a:p>
          <a:p>
            <a:pPr>
              <a:defRPr sz="1300">
                <a:solidFill>
                  <a:srgbClr val="94A3B8"/>
                </a:solidFill>
                <a:latin typeface="Arial"/>
              </a:defRPr>
            </a:pPr>
            <a:r>
              <a:t>• Code PRs contain zero non-technical summaries of customer-facing impact.</a:t>
            </a:r>
          </a:p>
          <a:p>
            <a:pPr>
              <a:defRPr sz="1300">
                <a:solidFill>
                  <a:srgbClr val="94A3B8"/>
                </a:solidFill>
                <a:latin typeface="Arial"/>
              </a:defRPr>
            </a:pPr>
            <a:r>
              <a:t>• Release notes become a rushed end-of-quarter scavenger hunt.</a:t>
            </a:r>
          </a:p>
          <a:p>
            <a:pPr>
              <a:defRPr sz="1300">
                <a:solidFill>
                  <a:srgbClr val="94A3B8"/>
                </a:solidFill>
                <a:latin typeface="Arial"/>
              </a:defRPr>
            </a:pPr>
            <a:r>
              <a:t>• Result: Misalignment between what engineers built and what business thinks exists.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9144000" cy="365760"/>
          </a:xfrm>
          <a:prstGeom prst="rect">
            <a:avLst/>
          </a:prstGeom>
          <a:noFill/>
        </p:spPr>
        <p:txBody>
          <a:bodyPr wrap="square" lIns="0" tIns="0" rIns="0" bIns="0">
            <a:spAutoFit/>
          </a:bodyPr>
          <a:lstStyle/>
          <a:p>
            <a:pPr>
              <a:defRPr sz="1100" b="1">
                <a:solidFill>
                  <a:srgbClr val="38BDF8"/>
                </a:solidFill>
                <a:latin typeface="Arial"/>
              </a:defRPr>
            </a:pPr>
            <a:r>
              <a:t>HOW IT WORKS</a:t>
            </a:r>
          </a:p>
        </p:txBody>
      </p:sp>
      <p:sp>
        <p:nvSpPr>
          <p:cNvPr id="4" name="TextBox 3"/>
          <p:cNvSpPr txBox="1"/>
          <p:nvPr/>
        </p:nvSpPr>
        <p:spPr>
          <a:xfrm>
            <a:off x="731520" y="777240"/>
            <a:ext cx="10515600" cy="640080"/>
          </a:xfrm>
          <a:prstGeom prst="rect">
            <a:avLst/>
          </a:prstGeom>
          <a:noFill/>
        </p:spPr>
        <p:txBody>
          <a:bodyPr wrap="square" lIns="0" tIns="0" rIns="0" bIns="0">
            <a:spAutoFit/>
          </a:bodyPr>
          <a:lstStyle/>
          <a:p>
            <a:pPr>
              <a:defRPr sz="2400" b="1">
                <a:solidFill>
                  <a:srgbClr val="F8FAFC"/>
                </a:solidFill>
                <a:latin typeface="Arial"/>
              </a:defRPr>
            </a:pPr>
            <a:r>
              <a:t>Continuous Self-Healing Workflow</a:t>
            </a:r>
          </a:p>
          <a:p>
            <a:pPr>
              <a:defRPr sz="1300">
                <a:solidFill>
                  <a:srgbClr val="94A3B8"/>
                </a:solidFill>
                <a:latin typeface="Arial"/>
              </a:defRPr>
            </a:pPr>
            <a:r>
              <a:t>Automated 3-stage pipeline connecting GitHub PRs to updated repository documentation</a:t>
            </a:r>
          </a:p>
        </p:txBody>
      </p:sp>
      <p:sp>
        <p:nvSpPr>
          <p:cNvPr id="5" name="Rounded Rectangle 4"/>
          <p:cNvSpPr/>
          <p:nvPr/>
        </p:nvSpPr>
        <p:spPr>
          <a:xfrm>
            <a:off x="731520" y="1645920"/>
            <a:ext cx="3328416" cy="4389120"/>
          </a:xfrm>
          <a:prstGeom prst="roundRect">
            <a:avLst/>
          </a:prstGeom>
          <a:solidFill>
            <a:srgbClr val="161E2E"/>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2779776" cy="3840480"/>
          </a:xfrm>
          <a:prstGeom prst="rect">
            <a:avLst/>
          </a:prstGeom>
          <a:noFill/>
        </p:spPr>
        <p:txBody>
          <a:bodyPr wrap="square">
            <a:spAutoFit/>
          </a:bodyPr>
          <a:lstStyle/>
          <a:p>
            <a:pPr>
              <a:defRPr sz="1100" b="1">
                <a:solidFill>
                  <a:srgbClr val="38BDF8"/>
                </a:solidFill>
                <a:latin typeface="Arial"/>
              </a:defRPr>
            </a:pPr>
            <a:r>
              <a:t>STEP 01</a:t>
            </a:r>
          </a:p>
          <a:p>
            <a:pPr>
              <a:defRPr sz="1700" b="1">
                <a:solidFill>
                  <a:srgbClr val="F8FAFC"/>
                </a:solidFill>
                <a:latin typeface="Arial"/>
              </a:defRPr>
            </a:pPr>
            <a:r>
              <a:t>PR Event &amp; Diff Filter</a:t>
            </a:r>
          </a:p>
          <a:p>
            <a:pPr>
              <a:defRPr sz="1200">
                <a:solidFill>
                  <a:srgbClr val="94A3B8"/>
                </a:solidFill>
                <a:latin typeface="Arial"/>
              </a:defRPr>
            </a:pPr>
            <a:r>
              <a:t>• Developer merges PR on GitHub.</a:t>
            </a:r>
          </a:p>
          <a:p>
            <a:pPr>
              <a:defRPr sz="1200">
                <a:solidFill>
                  <a:srgbClr val="94A3B8"/>
                </a:solidFill>
                <a:latin typeface="Arial"/>
              </a:defRPr>
            </a:pPr>
            <a:r>
              <a:t>• GitHub webhook delivers payload to Spring Boot.</a:t>
            </a:r>
          </a:p>
          <a:p>
            <a:pPr>
              <a:defRPr sz="1200">
                <a:solidFill>
                  <a:srgbClr val="94A3B8"/>
                </a:solidFill>
                <a:latin typeface="Arial"/>
              </a:defRPr>
            </a:pPr>
            <a:r>
              <a:t>• HMAC-SHA256 signature verified.</a:t>
            </a:r>
          </a:p>
          <a:p>
            <a:pPr>
              <a:defRPr sz="1200">
                <a:solidFill>
                  <a:srgbClr val="94A3B8"/>
                </a:solidFill>
                <a:latin typeface="Arial"/>
              </a:defRPr>
            </a:pPr>
            <a:r>
              <a:t>• Instant HTTP 202 ACK (zero CI delay).</a:t>
            </a:r>
          </a:p>
          <a:p>
            <a:pPr>
              <a:defRPr sz="1200">
                <a:solidFill>
                  <a:srgbClr val="94A3B8"/>
                </a:solidFill>
                <a:latin typeface="Arial"/>
              </a:defRPr>
            </a:pPr>
            <a:r>
              <a:t>• Non-architectural file noise filtered.</a:t>
            </a:r>
          </a:p>
        </p:txBody>
      </p:sp>
      <p:sp>
        <p:nvSpPr>
          <p:cNvPr id="7" name="Rounded Rectangle 6"/>
          <p:cNvSpPr/>
          <p:nvPr/>
        </p:nvSpPr>
        <p:spPr>
          <a:xfrm>
            <a:off x="4425696" y="1645920"/>
            <a:ext cx="3328416" cy="4389120"/>
          </a:xfrm>
          <a:prstGeom prst="roundRect">
            <a:avLst/>
          </a:prstGeom>
          <a:solidFill>
            <a:srgbClr val="161E2E"/>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00016" y="1920240"/>
            <a:ext cx="2779776" cy="3840480"/>
          </a:xfrm>
          <a:prstGeom prst="rect">
            <a:avLst/>
          </a:prstGeom>
          <a:noFill/>
        </p:spPr>
        <p:txBody>
          <a:bodyPr wrap="square">
            <a:spAutoFit/>
          </a:bodyPr>
          <a:lstStyle/>
          <a:p>
            <a:pPr>
              <a:defRPr sz="1100" b="1">
                <a:solidFill>
                  <a:srgbClr val="FBBF24"/>
                </a:solidFill>
                <a:latin typeface="Arial"/>
              </a:defRPr>
            </a:pPr>
            <a:r>
              <a:t>STEP 02</a:t>
            </a:r>
          </a:p>
          <a:p>
            <a:pPr>
              <a:defRPr sz="1700" b="1">
                <a:solidFill>
                  <a:srgbClr val="F8FAFC"/>
                </a:solidFill>
                <a:latin typeface="Arial"/>
              </a:defRPr>
            </a:pPr>
            <a:r>
              <a:t>OpenRouter Dual Summary</a:t>
            </a:r>
          </a:p>
          <a:p>
            <a:pPr>
              <a:defRPr sz="1200">
                <a:solidFill>
                  <a:srgbClr val="94A3B8"/>
                </a:solidFill>
                <a:latin typeface="Arial"/>
              </a:defRPr>
            </a:pPr>
            <a:r>
              <a:t>• Diff is isolated inside XML delimiters.</a:t>
            </a:r>
          </a:p>
          <a:p>
            <a:pPr>
              <a:defRPr sz="1200">
                <a:solidFill>
                  <a:srgbClr val="94A3B8"/>
                </a:solidFill>
                <a:latin typeface="Arial"/>
              </a:defRPr>
            </a:pPr>
            <a:r>
              <a:t>• Fast, efficient LLM generates 2 summaries:</a:t>
            </a:r>
          </a:p>
          <a:p>
            <a:pPr>
              <a:defRPr sz="1200">
                <a:solidFill>
                  <a:srgbClr val="94A3B8"/>
                </a:solidFill>
                <a:latin typeface="Arial"/>
              </a:defRPr>
            </a:pPr>
            <a:r>
              <a:t>•   1. Technical Summary (APIs, schemas).</a:t>
            </a:r>
          </a:p>
          <a:p>
            <a:pPr>
              <a:defRPr sz="1200">
                <a:solidFill>
                  <a:srgbClr val="94A3B8"/>
                </a:solidFill>
                <a:latin typeface="Arial"/>
              </a:defRPr>
            </a:pPr>
            <a:r>
              <a:t>•   2. Business Summary (user features).</a:t>
            </a:r>
          </a:p>
          <a:p>
            <a:pPr>
              <a:defRPr sz="1200">
                <a:solidFill>
                  <a:srgbClr val="94A3B8"/>
                </a:solidFill>
                <a:latin typeface="Arial"/>
              </a:defRPr>
            </a:pPr>
            <a:r>
              <a:t>• Volatility drift score recalculated.</a:t>
            </a:r>
          </a:p>
          <a:p>
            <a:pPr>
              <a:defRPr sz="1200">
                <a:solidFill>
                  <a:srgbClr val="94A3B8"/>
                </a:solidFill>
                <a:latin typeface="Arial"/>
              </a:defRPr>
            </a:pPr>
            <a:r>
              <a:t>• PrSummary stored in database.</a:t>
            </a:r>
          </a:p>
        </p:txBody>
      </p:sp>
      <p:sp>
        <p:nvSpPr>
          <p:cNvPr id="9" name="Rounded Rectangle 8"/>
          <p:cNvSpPr/>
          <p:nvPr/>
        </p:nvSpPr>
        <p:spPr>
          <a:xfrm>
            <a:off x="8119872" y="1645920"/>
            <a:ext cx="3328416" cy="4389120"/>
          </a:xfrm>
          <a:prstGeom prst="roundRect">
            <a:avLst/>
          </a:prstGeom>
          <a:solidFill>
            <a:srgbClr val="161E2E"/>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94192" y="1920240"/>
            <a:ext cx="2779776" cy="3840480"/>
          </a:xfrm>
          <a:prstGeom prst="rect">
            <a:avLst/>
          </a:prstGeom>
          <a:noFill/>
        </p:spPr>
        <p:txBody>
          <a:bodyPr wrap="square">
            <a:spAutoFit/>
          </a:bodyPr>
          <a:lstStyle/>
          <a:p>
            <a:pPr>
              <a:defRPr sz="1100" b="1">
                <a:solidFill>
                  <a:srgbClr val="34D399"/>
                </a:solidFill>
                <a:latin typeface="Arial"/>
              </a:defRPr>
            </a:pPr>
            <a:r>
              <a:t>STEP 03</a:t>
            </a:r>
          </a:p>
          <a:p>
            <a:pPr>
              <a:defRPr sz="1700" b="1">
                <a:solidFill>
                  <a:srgbClr val="F8FAFC"/>
                </a:solidFill>
                <a:latin typeface="Arial"/>
              </a:defRPr>
            </a:pPr>
            <a:r>
              <a:t>Heal &amp; Auto-Commit</a:t>
            </a:r>
          </a:p>
          <a:p>
            <a:pPr>
              <a:defRPr sz="1200">
                <a:solidFill>
                  <a:srgbClr val="94A3B8"/>
                </a:solidFill>
                <a:latin typeface="Arial"/>
              </a:defRPr>
            </a:pPr>
            <a:r>
              <a:t>• Module threshold reached or 'Heal Now' clicked.</a:t>
            </a:r>
          </a:p>
          <a:p>
            <a:pPr>
              <a:defRPr sz="1200">
                <a:solidFill>
                  <a:srgbClr val="94A3B8"/>
                </a:solidFill>
                <a:latin typeface="Arial"/>
              </a:defRPr>
            </a:pPr>
            <a:r>
              <a:t>• LLM merges accumulated changes into existing doc.</a:t>
            </a:r>
          </a:p>
          <a:p>
            <a:pPr>
              <a:defRPr sz="1200">
                <a:solidFill>
                  <a:srgbClr val="94A3B8"/>
                </a:solidFill>
                <a:latin typeface="Arial"/>
              </a:defRPr>
            </a:pPr>
            <a:r>
              <a:t>• Existing Markdown structure preserved.</a:t>
            </a:r>
          </a:p>
          <a:p>
            <a:pPr>
              <a:defRPr sz="1200">
                <a:solidFill>
                  <a:srgbClr val="94A3B8"/>
                </a:solidFill>
                <a:latin typeface="Arial"/>
              </a:defRPr>
            </a:pPr>
            <a:r>
              <a:t>• Strict anti-hallucination guardrails.</a:t>
            </a:r>
          </a:p>
          <a:p>
            <a:pPr>
              <a:defRPr sz="1200">
                <a:solidFill>
                  <a:srgbClr val="94A3B8"/>
                </a:solidFill>
                <a:latin typeface="Arial"/>
              </a:defRPr>
            </a:pPr>
            <a:r>
              <a:t>• Auto-commits updated Markdown to GitHub docs.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9144000" cy="365760"/>
          </a:xfrm>
          <a:prstGeom prst="rect">
            <a:avLst/>
          </a:prstGeom>
          <a:noFill/>
        </p:spPr>
        <p:txBody>
          <a:bodyPr wrap="square" lIns="0" tIns="0" rIns="0" bIns="0">
            <a:spAutoFit/>
          </a:bodyPr>
          <a:lstStyle/>
          <a:p>
            <a:pPr>
              <a:defRPr sz="1100" b="1">
                <a:solidFill>
                  <a:srgbClr val="38BDF8"/>
                </a:solidFill>
                <a:latin typeface="Arial"/>
              </a:defRPr>
            </a:pPr>
            <a:r>
              <a:t>SYSTEM WALKTHROUGH: STAGE 1</a:t>
            </a:r>
          </a:p>
        </p:txBody>
      </p:sp>
      <p:sp>
        <p:nvSpPr>
          <p:cNvPr id="4" name="TextBox 3"/>
          <p:cNvSpPr txBox="1"/>
          <p:nvPr/>
        </p:nvSpPr>
        <p:spPr>
          <a:xfrm>
            <a:off x="731520" y="777240"/>
            <a:ext cx="10515600" cy="640080"/>
          </a:xfrm>
          <a:prstGeom prst="rect">
            <a:avLst/>
          </a:prstGeom>
          <a:noFill/>
        </p:spPr>
        <p:txBody>
          <a:bodyPr wrap="square" lIns="0" tIns="0" rIns="0" bIns="0">
            <a:spAutoFit/>
          </a:bodyPr>
          <a:lstStyle/>
          <a:p>
            <a:pPr>
              <a:defRPr sz="2400" b="1">
                <a:solidFill>
                  <a:srgbClr val="F8FAFC"/>
                </a:solidFill>
                <a:latin typeface="Arial"/>
              </a:defRPr>
            </a:pPr>
            <a:r>
              <a:t>PR Ingestion &amp; Impact Analysis</a:t>
            </a:r>
          </a:p>
          <a:p>
            <a:pPr>
              <a:defRPr sz="1300">
                <a:solidFill>
                  <a:srgbClr val="94A3B8"/>
                </a:solidFill>
                <a:latin typeface="Arial"/>
              </a:defRPr>
            </a:pPr>
            <a:r>
              <a:t>Zero-friction developer integration with optional pre-merge PR comments</a:t>
            </a:r>
          </a:p>
        </p:txBody>
      </p:sp>
      <p:sp>
        <p:nvSpPr>
          <p:cNvPr id="5" name="Rounded Rectangle 4"/>
          <p:cNvSpPr/>
          <p:nvPr/>
        </p:nvSpPr>
        <p:spPr>
          <a:xfrm>
            <a:off x="731520" y="1645920"/>
            <a:ext cx="5943600" cy="4389120"/>
          </a:xfrm>
          <a:prstGeom prst="roundRect">
            <a:avLst/>
          </a:prstGeom>
          <a:solidFill>
            <a:srgbClr val="111827"/>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5394960" cy="3840480"/>
          </a:xfrm>
          <a:prstGeom prst="rect">
            <a:avLst/>
          </a:prstGeom>
          <a:noFill/>
        </p:spPr>
        <p:txBody>
          <a:bodyPr wrap="square">
            <a:spAutoFit/>
          </a:bodyPr>
          <a:lstStyle/>
          <a:p>
            <a:pPr>
              <a:defRPr sz="1100">
                <a:solidFill>
                  <a:srgbClr val="38BDF8"/>
                </a:solidFill>
                <a:latin typeface="Courier New"/>
              </a:defRPr>
            </a:pPr>
            <a:r>
              <a:t>GITHUB PR IMPACT BOT COMMENT</a:t>
            </a:r>
          </a:p>
          <a:p>
            <a:pPr>
              <a:defRPr sz="1100">
                <a:solidFill>
                  <a:srgbClr val="94A3B8"/>
                </a:solidFill>
                <a:latin typeface="Courier New"/>
              </a:defRPr>
            </a:pPr>
            <a:r>
              <a:t>## 📋 Doc-Debt Impact Analysis (PR #142)</a:t>
            </a:r>
          </a:p>
          <a:p>
            <a:pPr>
              <a:defRPr sz="1100">
                <a:solidFill>
                  <a:srgbClr val="94A3B8"/>
                </a:solidFill>
                <a:latin typeface="Courier New"/>
              </a:defRPr>
            </a:pPr>
            <a:r>
              <a:t>**Status:** Impact Detected  |  **Confidence:** High</a:t>
            </a:r>
          </a:p>
          <a:p>
            <a:pPr>
              <a:defRPr sz="1100">
                <a:solidFill>
                  <a:srgbClr val="94A3B8"/>
                </a:solidFill>
                <a:latin typeface="Courier New"/>
              </a:defRPr>
            </a:pPr>
          </a:p>
          <a:p>
            <a:pPr>
              <a:defRPr sz="1100">
                <a:solidFill>
                  <a:srgbClr val="E2E8F0"/>
                </a:solidFill>
                <a:latin typeface="Courier New"/>
              </a:defRPr>
            </a:pPr>
            <a:r>
              <a:t>### Affected Module: `AuthService`</a:t>
            </a:r>
          </a:p>
          <a:p>
            <a:pPr>
              <a:defRPr sz="1100">
                <a:solidFill>
                  <a:srgbClr val="94A3B8"/>
                </a:solidFill>
                <a:latin typeface="Courier New"/>
              </a:defRPr>
            </a:pPr>
            <a:r>
              <a:t>• Technical Doc: New OAuth2 token endpoints (`/oauth/token`)</a:t>
            </a:r>
          </a:p>
          <a:p>
            <a:pPr>
              <a:defRPr sz="1100">
                <a:solidFill>
                  <a:srgbClr val="94A3B8"/>
                </a:solidFill>
                <a:latin typeface="Courier New"/>
              </a:defRPr>
            </a:pPr>
            <a:r>
              <a:t>• Data Model: `User` entity updated with `oauth_provider`</a:t>
            </a:r>
          </a:p>
          <a:p>
            <a:pPr>
              <a:defRPr sz="1100">
                <a:solidFill>
                  <a:srgbClr val="94A3B8"/>
                </a:solidFill>
                <a:latin typeface="Courier New"/>
              </a:defRPr>
            </a:pPr>
            <a:r>
              <a:t>• Business Spec: Users can now log in via Google/Microsoft SSO</a:t>
            </a:r>
          </a:p>
          <a:p>
            <a:pPr>
              <a:defRPr sz="1100">
                <a:solidFill>
                  <a:srgbClr val="94A3B8"/>
                </a:solidFill>
                <a:latin typeface="Courier New"/>
              </a:defRPr>
            </a:pPr>
          </a:p>
          <a:p>
            <a:pPr>
              <a:defRPr sz="1100">
                <a:solidFill>
                  <a:srgbClr val="E2E8F0"/>
                </a:solidFill>
                <a:latin typeface="Courier New"/>
              </a:defRPr>
            </a:pPr>
            <a:r>
              <a:t>### Affected Module: `UserService`</a:t>
            </a:r>
          </a:p>
          <a:p>
            <a:pPr>
              <a:defRPr sz="1100">
                <a:solidFill>
                  <a:srgbClr val="94A3B8"/>
                </a:solidFill>
                <a:latin typeface="Courier New"/>
              </a:defRPr>
            </a:pPr>
            <a:r>
              <a:t>• Technical Doc: Minor schema adjustment</a:t>
            </a:r>
          </a:p>
          <a:p>
            <a:pPr>
              <a:defRPr sz="1100">
                <a:solidFill>
                  <a:srgbClr val="94A3B8"/>
                </a:solidFill>
                <a:latin typeface="Courier New"/>
              </a:defRPr>
            </a:pPr>
          </a:p>
          <a:p>
            <a:pPr>
              <a:defRPr sz="1100">
                <a:solidFill>
                  <a:srgbClr val="94A3B8"/>
                </a:solidFill>
                <a:latin typeface="Courier New"/>
              </a:defRPr>
            </a:pPr>
            <a:r>
              <a:t>---</a:t>
            </a:r>
          </a:p>
          <a:p>
            <a:pPr>
              <a:defRPr sz="1100">
                <a:solidFill>
                  <a:srgbClr val="94A3B8"/>
                </a:solidFill>
                <a:latin typeface="Courier New"/>
              </a:defRPr>
            </a:pPr>
            <a:r>
              <a:t>Generated automatically by Doc-Debt Tracker Webhook</a:t>
            </a:r>
          </a:p>
        </p:txBody>
      </p:sp>
      <p:sp>
        <p:nvSpPr>
          <p:cNvPr id="7" name="Rounded Rectangle 6"/>
          <p:cNvSpPr/>
          <p:nvPr/>
        </p:nvSpPr>
        <p:spPr>
          <a:xfrm>
            <a:off x="6949440" y="1645920"/>
            <a:ext cx="4480560" cy="4389120"/>
          </a:xfrm>
          <a:prstGeom prst="roundRect">
            <a:avLst/>
          </a:prstGeom>
          <a:solidFill>
            <a:srgbClr val="161E2E"/>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0" y="1920240"/>
            <a:ext cx="3931920" cy="3840480"/>
          </a:xfrm>
          <a:prstGeom prst="rect">
            <a:avLst/>
          </a:prstGeom>
          <a:noFill/>
        </p:spPr>
        <p:txBody>
          <a:bodyPr wrap="square">
            <a:spAutoFit/>
          </a:bodyPr>
          <a:lstStyle/>
          <a:p>
            <a:pPr>
              <a:defRPr sz="1200" b="1">
                <a:solidFill>
                  <a:srgbClr val="FBBF24"/>
                </a:solidFill>
                <a:latin typeface="Arial"/>
              </a:defRPr>
            </a:pPr>
            <a:r>
              <a:t>KEY IMPLEMENTATION DETAILS</a:t>
            </a:r>
          </a:p>
          <a:p>
            <a:pPr>
              <a:defRPr sz="1300" b="1">
                <a:solidFill>
                  <a:srgbClr val="F8FAFC"/>
                </a:solidFill>
                <a:latin typeface="Arial"/>
              </a:defRPr>
            </a:pPr>
            <a:r>
              <a:t>• Instant HTTP 202 ACK:</a:t>
            </a:r>
          </a:p>
          <a:p>
            <a:pPr>
              <a:defRPr sz="1200">
                <a:solidFill>
                  <a:srgbClr val="94A3B8"/>
                </a:solidFill>
                <a:latin typeface="Arial"/>
              </a:defRPr>
            </a:pPr>
            <a:r>
              <a:t>   Webhook finishes in milliseconds; all diff processing runs asynchronously in Spring Boot threads.</a:t>
            </a:r>
          </a:p>
          <a:p>
            <a:pPr>
              <a:defRPr sz="1300" b="1">
                <a:solidFill>
                  <a:srgbClr val="F8FAFC"/>
                </a:solidFill>
                <a:latin typeface="Arial"/>
              </a:defRPr>
            </a:pPr>
            <a:r>
              <a:t>• Delivery Deduplication:</a:t>
            </a:r>
          </a:p>
          <a:p>
            <a:pPr>
              <a:defRPr sz="1200">
                <a:solidFill>
                  <a:srgbClr val="94A3B8"/>
                </a:solidFill>
                <a:latin typeface="Arial"/>
              </a:defRPr>
            </a:pPr>
            <a:r>
              <a:t>   Checks X-GitHub-Delivery header to ensure retry events never create duplicate summaries.</a:t>
            </a:r>
          </a:p>
          <a:p>
            <a:pPr>
              <a:defRPr sz="1300" b="1">
                <a:solidFill>
                  <a:srgbClr val="F8FAFC"/>
                </a:solidFill>
                <a:latin typeface="Arial"/>
              </a:defRPr>
            </a:pPr>
            <a:r>
              <a:t>• ModuleResolver Engine:</a:t>
            </a:r>
          </a:p>
          <a:p>
            <a:pPr>
              <a:defRPr sz="1200">
                <a:solidFill>
                  <a:srgbClr val="94A3B8"/>
                </a:solidFill>
                <a:latin typeface="Arial"/>
              </a:defRPr>
            </a:pPr>
            <a:r>
              <a:t>   Parses modified file paths from diff headers, strips src/main/java noise, and matches registered modules.</a:t>
            </a:r>
          </a:p>
          <a:p>
            <a:pPr>
              <a:defRPr sz="1300" b="1">
                <a:solidFill>
                  <a:srgbClr val="F8FAFC"/>
                </a:solidFill>
                <a:latin typeface="Arial"/>
              </a:defRPr>
            </a:pPr>
            <a:r>
              <a:t>• Pre-Merge Transparency:</a:t>
            </a:r>
          </a:p>
          <a:p>
            <a:pPr>
              <a:defRPr sz="1200">
                <a:solidFill>
                  <a:srgbClr val="94A3B8"/>
                </a:solidFill>
                <a:latin typeface="Arial"/>
              </a:defRPr>
            </a:pPr>
            <a:r>
              <a:t>   Developers see documentation impact directly in the PR before code is even merged.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9144000" cy="365760"/>
          </a:xfrm>
          <a:prstGeom prst="rect">
            <a:avLst/>
          </a:prstGeom>
          <a:noFill/>
        </p:spPr>
        <p:txBody>
          <a:bodyPr wrap="square" lIns="0" tIns="0" rIns="0" bIns="0">
            <a:spAutoFit/>
          </a:bodyPr>
          <a:lstStyle/>
          <a:p>
            <a:pPr>
              <a:defRPr sz="1100" b="1">
                <a:solidFill>
                  <a:srgbClr val="38BDF8"/>
                </a:solidFill>
                <a:latin typeface="Arial"/>
              </a:defRPr>
            </a:pPr>
            <a:r>
              <a:t>SYSTEM WALKTHROUGH: STAGE 2</a:t>
            </a:r>
          </a:p>
        </p:txBody>
      </p:sp>
      <p:sp>
        <p:nvSpPr>
          <p:cNvPr id="4" name="TextBox 3"/>
          <p:cNvSpPr txBox="1"/>
          <p:nvPr/>
        </p:nvSpPr>
        <p:spPr>
          <a:xfrm>
            <a:off x="731520" y="777240"/>
            <a:ext cx="10515600" cy="640080"/>
          </a:xfrm>
          <a:prstGeom prst="rect">
            <a:avLst/>
          </a:prstGeom>
          <a:noFill/>
        </p:spPr>
        <p:txBody>
          <a:bodyPr wrap="square" lIns="0" tIns="0" rIns="0" bIns="0">
            <a:spAutoFit/>
          </a:bodyPr>
          <a:lstStyle/>
          <a:p>
            <a:pPr>
              <a:defRPr sz="2400" b="1">
                <a:solidFill>
                  <a:srgbClr val="F8FAFC"/>
                </a:solidFill>
                <a:latin typeface="Arial"/>
              </a:defRPr>
            </a:pPr>
            <a:r>
              <a:t>The Doc-Debt Heatmap Dashboard</a:t>
            </a:r>
          </a:p>
          <a:p>
            <a:pPr>
              <a:defRPr sz="1300">
                <a:solidFill>
                  <a:srgbClr val="94A3B8"/>
                </a:solidFill>
                <a:latin typeface="Arial"/>
              </a:defRPr>
            </a:pPr>
            <a:r>
              <a:t>Real-time visibility into documentation drift across microservices and components</a:t>
            </a:r>
          </a:p>
        </p:txBody>
      </p:sp>
      <p:sp>
        <p:nvSpPr>
          <p:cNvPr id="5" name="Rounded Rectangle 4"/>
          <p:cNvSpPr/>
          <p:nvPr/>
        </p:nvSpPr>
        <p:spPr>
          <a:xfrm>
            <a:off x="731520" y="1645920"/>
            <a:ext cx="6217920" cy="4389120"/>
          </a:xfrm>
          <a:prstGeom prst="roundRect">
            <a:avLst/>
          </a:prstGeom>
          <a:solidFill>
            <a:srgbClr val="111827"/>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5669280" cy="3840480"/>
          </a:xfrm>
          <a:prstGeom prst="rect">
            <a:avLst/>
          </a:prstGeom>
          <a:noFill/>
        </p:spPr>
        <p:txBody>
          <a:bodyPr wrap="square">
            <a:spAutoFit/>
          </a:bodyPr>
          <a:lstStyle/>
          <a:p>
            <a:pPr>
              <a:defRPr sz="1100" b="1">
                <a:solidFill>
                  <a:srgbClr val="38BDF8"/>
                </a:solidFill>
                <a:latin typeface="Arial"/>
              </a:defRPr>
            </a:pPr>
            <a:r>
              <a:t>DASHBOARD OBSERVABILITY: /api/modules</a:t>
            </a:r>
          </a:p>
          <a:p>
            <a:pPr>
              <a:defRPr sz="1400" b="1">
                <a:solidFill>
                  <a:srgbClr val="EF4444"/>
                </a:solidFill>
                <a:latin typeface="Arial"/>
              </a:defRPr>
            </a:pPr>
            <a:r>
              <a:t>■ [CRITICAL] AuthService</a:t>
            </a:r>
          </a:p>
          <a:p>
            <a:pPr>
              <a:defRPr sz="1100">
                <a:solidFill>
                  <a:srgbClr val="94A3B8"/>
                </a:solidFill>
                <a:latin typeface="Arial"/>
              </a:defRPr>
            </a:pPr>
            <a:r>
              <a:t>   Volatility: 62  |  Pending PRs: 5  |  Target: GitHub</a:t>
            </a:r>
          </a:p>
          <a:p>
            <a:pPr>
              <a:defRPr sz="1400" b="1">
                <a:solidFill>
                  <a:srgbClr val="F59E0B"/>
                </a:solidFill>
                <a:latin typeface="Arial"/>
              </a:defRPr>
            </a:pPr>
            <a:r>
              <a:t>■ [DRIFTING] PaymentService</a:t>
            </a:r>
          </a:p>
          <a:p>
            <a:pPr>
              <a:defRPr sz="1100">
                <a:solidFill>
                  <a:srgbClr val="94A3B8"/>
                </a:solidFill>
                <a:latin typeface="Arial"/>
              </a:defRPr>
            </a:pPr>
            <a:r>
              <a:t>   Volatility: 34  |  Pending PRs: 3  |  Target: GitHub</a:t>
            </a:r>
          </a:p>
          <a:p>
            <a:pPr>
              <a:defRPr sz="1400" b="1">
                <a:solidFill>
                  <a:srgbClr val="22C55E"/>
                </a:solidFill>
                <a:latin typeface="Arial"/>
              </a:defRPr>
            </a:pPr>
            <a:r>
              <a:t>■ [STABLE] UserService</a:t>
            </a:r>
          </a:p>
          <a:p>
            <a:pPr>
              <a:defRPr sz="1100">
                <a:solidFill>
                  <a:srgbClr val="94A3B8"/>
                </a:solidFill>
                <a:latin typeface="Arial"/>
              </a:defRPr>
            </a:pPr>
            <a:r>
              <a:t>   Volatility: 4   |  Pending PRs: 0  |  Target: GitHub</a:t>
            </a:r>
          </a:p>
          <a:p>
            <a:pPr>
              <a:defRPr sz="1400" b="1">
                <a:solidFill>
                  <a:srgbClr val="22C55E"/>
                </a:solidFill>
                <a:latin typeface="Arial"/>
              </a:defRPr>
            </a:pPr>
            <a:r>
              <a:t>■ [STABLE] NotificationService</a:t>
            </a:r>
          </a:p>
          <a:p>
            <a:pPr>
              <a:defRPr sz="1100">
                <a:solidFill>
                  <a:srgbClr val="94A3B8"/>
                </a:solidFill>
                <a:latin typeface="Arial"/>
              </a:defRPr>
            </a:pPr>
            <a:r>
              <a:t>   Volatility: 8   |  Pending PRs: 0  |  Target: GitHub</a:t>
            </a:r>
          </a:p>
        </p:txBody>
      </p:sp>
      <p:sp>
        <p:nvSpPr>
          <p:cNvPr id="7" name="Rounded Rectangle 6"/>
          <p:cNvSpPr/>
          <p:nvPr/>
        </p:nvSpPr>
        <p:spPr>
          <a:xfrm>
            <a:off x="7223760" y="1645920"/>
            <a:ext cx="4206240" cy="4389120"/>
          </a:xfrm>
          <a:prstGeom prst="roundRect">
            <a:avLst/>
          </a:prstGeom>
          <a:solidFill>
            <a:srgbClr val="161E2E"/>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79" y="1920240"/>
            <a:ext cx="3657600" cy="3840480"/>
          </a:xfrm>
          <a:prstGeom prst="rect">
            <a:avLst/>
          </a:prstGeom>
          <a:noFill/>
        </p:spPr>
        <p:txBody>
          <a:bodyPr wrap="square">
            <a:spAutoFit/>
          </a:bodyPr>
          <a:lstStyle/>
          <a:p>
            <a:pPr>
              <a:defRPr sz="1200" b="1">
                <a:solidFill>
                  <a:srgbClr val="34D399"/>
                </a:solidFill>
                <a:latin typeface="Arial"/>
              </a:defRPr>
            </a:pPr>
            <a:r>
              <a:t>DETERMINISTIC VOLATILITY</a:t>
            </a:r>
          </a:p>
          <a:p>
            <a:pPr>
              <a:defRPr sz="1400" b="1">
                <a:solidFill>
                  <a:srgbClr val="F8FAFC"/>
                </a:solidFill>
                <a:latin typeface="Arial"/>
              </a:defRPr>
            </a:pPr>
            <a:r>
              <a:t>Volatility Formula:</a:t>
            </a:r>
          </a:p>
          <a:p>
            <a:pPr>
              <a:defRPr sz="1100">
                <a:solidFill>
                  <a:srgbClr val="FBBF24"/>
                </a:solidFill>
                <a:latin typeface="Courier New"/>
              </a:defRPr>
            </a:pPr>
            <a:r>
              <a:t>Score = (Pending PRs × 10) + (Days since last doc update)</a:t>
            </a:r>
          </a:p>
          <a:p>
            <a:pPr>
              <a:defRPr sz="1200">
                <a:solidFill>
                  <a:srgbClr val="94A3B8"/>
                </a:solidFill>
                <a:latin typeface="Arial"/>
              </a:defRPr>
            </a:pPr>
            <a:r>
              <a:t>• Configurable Thresholds: Each module has a custom threshold (e.g., 3 PRs). Auto-heals when exceeded.</a:t>
            </a:r>
          </a:p>
          <a:p>
            <a:pPr>
              <a:defRPr sz="1200">
                <a:solidFill>
                  <a:srgbClr val="94A3B8"/>
                </a:solidFill>
                <a:latin typeface="Arial"/>
              </a:defRPr>
            </a:pPr>
            <a:r>
              <a:t>• On-Demand 'Heal Now': Leads can click Heal Now to synchronize docs right before a deployment.</a:t>
            </a:r>
          </a:p>
          <a:p>
            <a:pPr>
              <a:defRPr sz="1200">
                <a:solidFill>
                  <a:srgbClr val="94A3B8"/>
                </a:solidFill>
                <a:latin typeface="Arial"/>
              </a:defRPr>
            </a:pPr>
            <a:r>
              <a:t>• Nightly Batch Job: DebtEvaluatorJob runs at 2 AM to evaluate dormant modules that accumulated time drift.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9144000" cy="365760"/>
          </a:xfrm>
          <a:prstGeom prst="rect">
            <a:avLst/>
          </a:prstGeom>
          <a:noFill/>
        </p:spPr>
        <p:txBody>
          <a:bodyPr wrap="square" lIns="0" tIns="0" rIns="0" bIns="0">
            <a:spAutoFit/>
          </a:bodyPr>
          <a:lstStyle/>
          <a:p>
            <a:pPr>
              <a:defRPr sz="1100" b="1">
                <a:solidFill>
                  <a:srgbClr val="38BDF8"/>
                </a:solidFill>
                <a:latin typeface="Arial"/>
              </a:defRPr>
            </a:pPr>
            <a:r>
              <a:t>SYSTEM WALKTHROUGH: STAGE 3</a:t>
            </a:r>
          </a:p>
        </p:txBody>
      </p:sp>
      <p:sp>
        <p:nvSpPr>
          <p:cNvPr id="4" name="TextBox 3"/>
          <p:cNvSpPr txBox="1"/>
          <p:nvPr/>
        </p:nvSpPr>
        <p:spPr>
          <a:xfrm>
            <a:off x="731520" y="777240"/>
            <a:ext cx="10515600" cy="640080"/>
          </a:xfrm>
          <a:prstGeom prst="rect">
            <a:avLst/>
          </a:prstGeom>
          <a:noFill/>
        </p:spPr>
        <p:txBody>
          <a:bodyPr wrap="square" lIns="0" tIns="0" rIns="0" bIns="0">
            <a:spAutoFit/>
          </a:bodyPr>
          <a:lstStyle/>
          <a:p>
            <a:pPr>
              <a:defRPr sz="2400" b="1">
                <a:solidFill>
                  <a:srgbClr val="F8FAFC"/>
                </a:solidFill>
                <a:latin typeface="Arial"/>
              </a:defRPr>
            </a:pPr>
            <a:r>
              <a:t>Side-by-Side Diff &amp; GitHub Commit</a:t>
            </a:r>
          </a:p>
          <a:p>
            <a:pPr>
              <a:defRPr sz="1300">
                <a:solidFill>
                  <a:srgbClr val="94A3B8"/>
                </a:solidFill>
                <a:latin typeface="Arial"/>
              </a:defRPr>
            </a:pPr>
            <a:r>
              <a:t>Intelligent incremental synthesis preserving structure with zero file wipeouts</a:t>
            </a:r>
          </a:p>
        </p:txBody>
      </p:sp>
      <p:sp>
        <p:nvSpPr>
          <p:cNvPr id="5" name="Rounded Rectangle 4"/>
          <p:cNvSpPr/>
          <p:nvPr/>
        </p:nvSpPr>
        <p:spPr>
          <a:xfrm>
            <a:off x="731520" y="1645920"/>
            <a:ext cx="6217920" cy="4389120"/>
          </a:xfrm>
          <a:prstGeom prst="roundRect">
            <a:avLst/>
          </a:prstGeom>
          <a:solidFill>
            <a:srgbClr val="111827"/>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5669280" cy="3840480"/>
          </a:xfrm>
          <a:prstGeom prst="rect">
            <a:avLst/>
          </a:prstGeom>
          <a:noFill/>
        </p:spPr>
        <p:txBody>
          <a:bodyPr wrap="square">
            <a:spAutoFit/>
          </a:bodyPr>
          <a:lstStyle/>
          <a:p>
            <a:pPr>
              <a:defRPr sz="1100">
                <a:solidFill>
                  <a:srgbClr val="38BDF8"/>
                </a:solidFill>
                <a:latin typeface="Courier New"/>
              </a:defRPr>
            </a:pPr>
            <a:r>
              <a:t>UNIFIED DIFF: docs/Technical/AuthService-HLD.md</a:t>
            </a:r>
          </a:p>
          <a:p>
            <a:pPr>
              <a:defRPr sz="1100" b="1">
                <a:solidFill>
                  <a:srgbClr val="F8FAFC"/>
                </a:solidFill>
                <a:latin typeface="Courier New"/>
              </a:defRPr>
            </a:pPr>
            <a:r>
              <a:t>  ## 3. API Contracts &amp; Endpoint Specifications</a:t>
            </a:r>
          </a:p>
          <a:p>
            <a:pPr>
              <a:defRPr sz="1100">
                <a:solidFill>
                  <a:srgbClr val="94A3B8"/>
                </a:solidFill>
                <a:latin typeface="Courier New"/>
              </a:defRPr>
            </a:pPr>
            <a:r>
              <a:t>   POST /api/auth/login</a:t>
            </a:r>
          </a:p>
          <a:p>
            <a:pPr>
              <a:defRPr sz="1100" b="1">
                <a:solidFill>
                  <a:srgbClr val="4ADE80"/>
                </a:solidFill>
                <a:latin typeface="Courier New"/>
              </a:defRPr>
            </a:pPr>
            <a:r>
              <a:t>+  POST /api/auth/oauth2/token  [ADDED via PR #142]</a:t>
            </a:r>
          </a:p>
          <a:p>
            <a:pPr>
              <a:defRPr sz="1100" b="1">
                <a:solidFill>
                  <a:srgbClr val="4ADE80"/>
                </a:solidFill>
                <a:latin typeface="Courier New"/>
              </a:defRPr>
            </a:pPr>
            <a:r>
              <a:t>+    Headers: Authorization: Bearer &lt;token&gt;</a:t>
            </a:r>
          </a:p>
          <a:p>
            <a:pPr>
              <a:defRPr sz="1100" b="1">
                <a:solidFill>
                  <a:srgbClr val="4ADE80"/>
                </a:solidFill>
                <a:latin typeface="Courier New"/>
              </a:defRPr>
            </a:pPr>
            <a:r>
              <a:t>+    Response: { accessToken, refreshToken, expiresIn }</a:t>
            </a:r>
          </a:p>
          <a:p>
            <a:pPr>
              <a:defRPr sz="1100">
                <a:solidFill>
                  <a:srgbClr val="94A3B8"/>
                </a:solidFill>
                <a:latin typeface="Courier New"/>
              </a:defRPr>
            </a:pPr>
          </a:p>
          <a:p>
            <a:pPr>
              <a:defRPr sz="1100" b="1">
                <a:solidFill>
                  <a:srgbClr val="F8FAFC"/>
                </a:solidFill>
                <a:latin typeface="Courier New"/>
              </a:defRPr>
            </a:pPr>
            <a:r>
              <a:t>  ## 4. Data Model &amp; Entities</a:t>
            </a:r>
          </a:p>
          <a:p>
            <a:pPr>
              <a:defRPr sz="1100">
                <a:solidFill>
                  <a:srgbClr val="94A3B8"/>
                </a:solidFill>
                <a:latin typeface="Courier New"/>
              </a:defRPr>
            </a:pPr>
            <a:r>
              <a:t>   Entity: User</a:t>
            </a:r>
          </a:p>
          <a:p>
            <a:pPr>
              <a:defRPr sz="1100">
                <a:solidFill>
                  <a:srgbClr val="94A3B8"/>
                </a:solidFill>
                <a:latin typeface="Courier New"/>
              </a:defRPr>
            </a:pPr>
            <a:r>
              <a:t>   - id: Long (Primary Key)</a:t>
            </a:r>
          </a:p>
          <a:p>
            <a:pPr>
              <a:defRPr sz="1100">
                <a:solidFill>
                  <a:srgbClr val="94A3B8"/>
                </a:solidFill>
                <a:latin typeface="Courier New"/>
              </a:defRPr>
            </a:pPr>
            <a:r>
              <a:t>   - email: String</a:t>
            </a:r>
          </a:p>
          <a:p>
            <a:pPr>
              <a:defRPr sz="1100" b="1">
                <a:solidFill>
                  <a:srgbClr val="4ADE80"/>
                </a:solidFill>
                <a:latin typeface="Courier New"/>
              </a:defRPr>
            </a:pPr>
            <a:r>
              <a:t>+  - oauth_provider: String (Nullable) [ADDED via PR #142]</a:t>
            </a:r>
          </a:p>
          <a:p>
            <a:pPr>
              <a:defRPr sz="1100" b="1">
                <a:solidFill>
                  <a:srgbClr val="4ADE80"/>
                </a:solidFill>
                <a:latin typeface="Courier New"/>
              </a:defRPr>
            </a:pPr>
            <a:r>
              <a:t>+  - oauth_id: String (Nullable) [ADDED via PR #142]</a:t>
            </a:r>
          </a:p>
        </p:txBody>
      </p:sp>
      <p:sp>
        <p:nvSpPr>
          <p:cNvPr id="7" name="Rounded Rectangle 6"/>
          <p:cNvSpPr/>
          <p:nvPr/>
        </p:nvSpPr>
        <p:spPr>
          <a:xfrm>
            <a:off x="7223760" y="1645920"/>
            <a:ext cx="4206240" cy="4389120"/>
          </a:xfrm>
          <a:prstGeom prst="roundRect">
            <a:avLst/>
          </a:prstGeom>
          <a:solidFill>
            <a:srgbClr val="161E2E"/>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79" y="1920240"/>
            <a:ext cx="3657600" cy="3840480"/>
          </a:xfrm>
          <a:prstGeom prst="rect">
            <a:avLst/>
          </a:prstGeom>
          <a:noFill/>
        </p:spPr>
        <p:txBody>
          <a:bodyPr wrap="square">
            <a:spAutoFit/>
          </a:bodyPr>
          <a:lstStyle/>
          <a:p>
            <a:pPr>
              <a:defRPr sz="1200" b="1">
                <a:solidFill>
                  <a:srgbClr val="34D399"/>
                </a:solidFill>
                <a:latin typeface="Arial"/>
              </a:defRPr>
            </a:pPr>
            <a:r>
              <a:t>WHY THIS APPROACH WORKS</a:t>
            </a:r>
          </a:p>
          <a:p>
            <a:pPr>
              <a:defRPr sz="1300" b="1">
                <a:solidFill>
                  <a:srgbClr val="F8FAFC"/>
                </a:solidFill>
                <a:latin typeface="Arial"/>
              </a:defRPr>
            </a:pPr>
            <a:r>
              <a:t>• Incremental Synthesis:</a:t>
            </a:r>
          </a:p>
          <a:p>
            <a:pPr>
              <a:defRPr sz="1200">
                <a:solidFill>
                  <a:srgbClr val="94A3B8"/>
                </a:solidFill>
                <a:latin typeface="Arial"/>
              </a:defRPr>
            </a:pPr>
            <a:r>
              <a:t>   Takes the existing doc + accumulated PR summaries. Does NOT rewrite the entire file from scratch.</a:t>
            </a:r>
          </a:p>
          <a:p>
            <a:pPr>
              <a:defRPr sz="1300" b="1">
                <a:solidFill>
                  <a:srgbClr val="F8FAFC"/>
                </a:solidFill>
                <a:latin typeface="Arial"/>
              </a:defRPr>
            </a:pPr>
            <a:r>
              <a:t>• Direct GitHub Commits:</a:t>
            </a:r>
          </a:p>
          <a:p>
            <a:pPr>
              <a:defRPr sz="1200">
                <a:solidFill>
                  <a:srgbClr val="94A3B8"/>
                </a:solidFill>
                <a:latin typeface="Arial"/>
              </a:defRPr>
            </a:pPr>
            <a:r>
              <a:t>   Automatically commits healed Markdown directly to the repo branch under docs/Technical and docs/Business.</a:t>
            </a:r>
          </a:p>
          <a:p>
            <a:pPr>
              <a:defRPr sz="1300" b="1">
                <a:solidFill>
                  <a:srgbClr val="F8FAFC"/>
                </a:solidFill>
                <a:latin typeface="Arial"/>
              </a:defRPr>
            </a:pPr>
            <a:r>
              <a:t>• Dual Tabs in UI:</a:t>
            </a:r>
          </a:p>
          <a:p>
            <a:pPr>
              <a:defRPr sz="1200">
                <a:solidFill>
                  <a:srgbClr val="94A3B8"/>
                </a:solidFill>
                <a:latin typeface="Arial"/>
              </a:defRPr>
            </a:pPr>
            <a:r>
              <a:t>   Maintainers can toggle between Technical HLD/LLD and Business Feature Specification.</a:t>
            </a:r>
          </a:p>
          <a:p>
            <a:pPr>
              <a:defRPr sz="1300" b="1">
                <a:solidFill>
                  <a:srgbClr val="F8FAFC"/>
                </a:solidFill>
                <a:latin typeface="Arial"/>
              </a:defRPr>
            </a:pPr>
            <a:r>
              <a:t>• Automatic Reset:</a:t>
            </a:r>
          </a:p>
          <a:p>
            <a:pPr>
              <a:defRPr sz="1200">
                <a:solidFill>
                  <a:srgbClr val="94A3B8"/>
                </a:solidFill>
                <a:latin typeface="Arial"/>
              </a:defRPr>
            </a:pPr>
            <a:r>
              <a:t>   Once committed, pending summaries are marked processed and volatility resets to 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9144000" cy="365760"/>
          </a:xfrm>
          <a:prstGeom prst="rect">
            <a:avLst/>
          </a:prstGeom>
          <a:noFill/>
        </p:spPr>
        <p:txBody>
          <a:bodyPr wrap="square" lIns="0" tIns="0" rIns="0" bIns="0">
            <a:spAutoFit/>
          </a:bodyPr>
          <a:lstStyle/>
          <a:p>
            <a:pPr>
              <a:defRPr sz="1100" b="1">
                <a:solidFill>
                  <a:srgbClr val="38BDF8"/>
                </a:solidFill>
                <a:latin typeface="Arial"/>
              </a:defRPr>
            </a:pPr>
            <a:r>
              <a:t>RELIABILITY &amp; SAFETY</a:t>
            </a:r>
          </a:p>
        </p:txBody>
      </p:sp>
      <p:sp>
        <p:nvSpPr>
          <p:cNvPr id="4" name="TextBox 3"/>
          <p:cNvSpPr txBox="1"/>
          <p:nvPr/>
        </p:nvSpPr>
        <p:spPr>
          <a:xfrm>
            <a:off x="731520" y="777240"/>
            <a:ext cx="10515600" cy="640080"/>
          </a:xfrm>
          <a:prstGeom prst="rect">
            <a:avLst/>
          </a:prstGeom>
          <a:noFill/>
        </p:spPr>
        <p:txBody>
          <a:bodyPr wrap="square" lIns="0" tIns="0" rIns="0" bIns="0">
            <a:spAutoFit/>
          </a:bodyPr>
          <a:lstStyle/>
          <a:p>
            <a:pPr>
              <a:defRPr sz="2400" b="1">
                <a:solidFill>
                  <a:srgbClr val="F8FAFC"/>
                </a:solidFill>
                <a:latin typeface="Arial"/>
              </a:defRPr>
            </a:pPr>
            <a:r>
              <a:t>Engineering Guardrails &amp; Practical Choices</a:t>
            </a:r>
          </a:p>
          <a:p>
            <a:pPr>
              <a:defRPr sz="1300">
                <a:solidFill>
                  <a:srgbClr val="94A3B8"/>
                </a:solidFill>
                <a:latin typeface="Arial"/>
              </a:defRPr>
            </a:pPr>
            <a:r>
              <a:t>How we ensure production reliability, cost control, and factual accuracy</a:t>
            </a:r>
          </a:p>
        </p:txBody>
      </p:sp>
      <p:sp>
        <p:nvSpPr>
          <p:cNvPr id="5" name="Rounded Rectangle 4"/>
          <p:cNvSpPr/>
          <p:nvPr/>
        </p:nvSpPr>
        <p:spPr>
          <a:xfrm>
            <a:off x="731520" y="1645920"/>
            <a:ext cx="5120640" cy="2057400"/>
          </a:xfrm>
          <a:prstGeom prst="roundRect">
            <a:avLst/>
          </a:prstGeom>
          <a:solidFill>
            <a:srgbClr val="161E2E"/>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4572000" cy="1691640"/>
          </a:xfrm>
          <a:prstGeom prst="rect">
            <a:avLst/>
          </a:prstGeom>
          <a:noFill/>
        </p:spPr>
        <p:txBody>
          <a:bodyPr wrap="square">
            <a:spAutoFit/>
          </a:bodyPr>
          <a:lstStyle/>
          <a:p>
            <a:pPr>
              <a:defRPr sz="1100" b="1">
                <a:solidFill>
                  <a:srgbClr val="38BDF8"/>
                </a:solidFill>
                <a:latin typeface="Arial"/>
              </a:defRPr>
            </a:pPr>
            <a:r>
              <a:t>GUARDRAIL 1</a:t>
            </a:r>
          </a:p>
          <a:p>
            <a:pPr>
              <a:defRPr sz="1500" b="1">
                <a:solidFill>
                  <a:srgbClr val="F8FAFC"/>
                </a:solidFill>
                <a:latin typeface="Arial"/>
              </a:defRPr>
            </a:pPr>
            <a:r>
              <a:t>Anti-Hallucination Prompting</a:t>
            </a:r>
          </a:p>
          <a:p>
            <a:pPr>
              <a:defRPr sz="1200">
                <a:solidFill>
                  <a:srgbClr val="94A3B8"/>
                </a:solidFill>
                <a:latin typeface="Arial"/>
              </a:defRPr>
            </a:pPr>
            <a:r>
              <a:t>System prompts mandate: 'Do NOT invent non-existent file names, API endpoints, or schemas. If details are missing, write N/A - Not specified.' Zero fabricated APIs.</a:t>
            </a:r>
          </a:p>
        </p:txBody>
      </p:sp>
      <p:sp>
        <p:nvSpPr>
          <p:cNvPr id="7" name="Rounded Rectangle 6"/>
          <p:cNvSpPr/>
          <p:nvPr/>
        </p:nvSpPr>
        <p:spPr>
          <a:xfrm>
            <a:off x="6309360" y="1645920"/>
            <a:ext cx="5120640" cy="2057400"/>
          </a:xfrm>
          <a:prstGeom prst="roundRect">
            <a:avLst/>
          </a:prstGeom>
          <a:solidFill>
            <a:srgbClr val="161E2E"/>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828800"/>
            <a:ext cx="4572000" cy="1691640"/>
          </a:xfrm>
          <a:prstGeom prst="rect">
            <a:avLst/>
          </a:prstGeom>
          <a:noFill/>
        </p:spPr>
        <p:txBody>
          <a:bodyPr wrap="square">
            <a:spAutoFit/>
          </a:bodyPr>
          <a:lstStyle/>
          <a:p>
            <a:pPr>
              <a:defRPr sz="1100" b="1">
                <a:solidFill>
                  <a:srgbClr val="FBBF24"/>
                </a:solidFill>
                <a:latin typeface="Arial"/>
              </a:defRPr>
            </a:pPr>
            <a:r>
              <a:t>GUARDRAIL 2</a:t>
            </a:r>
          </a:p>
          <a:p>
            <a:pPr>
              <a:defRPr sz="1500" b="1">
                <a:solidFill>
                  <a:srgbClr val="F8FAFC"/>
                </a:solidFill>
                <a:latin typeface="Arial"/>
              </a:defRPr>
            </a:pPr>
            <a:r>
              <a:t>Diff Noise &amp; Token Budgeting</a:t>
            </a:r>
          </a:p>
          <a:p>
            <a:pPr>
              <a:defRPr sz="1200">
                <a:solidFill>
                  <a:srgbClr val="94A3B8"/>
                </a:solidFill>
                <a:latin typeface="Arial"/>
              </a:defRPr>
            </a:pPr>
            <a:r>
              <a:t>Lockfiles (package-lock.json), minified JS, and build artifacts are stripped. Diffs are capped at an 8,000-character budget to prevent context overflow and control LLM costs.</a:t>
            </a:r>
          </a:p>
        </p:txBody>
      </p:sp>
      <p:sp>
        <p:nvSpPr>
          <p:cNvPr id="9" name="Rounded Rectangle 8"/>
          <p:cNvSpPr/>
          <p:nvPr/>
        </p:nvSpPr>
        <p:spPr>
          <a:xfrm>
            <a:off x="731520" y="3931920"/>
            <a:ext cx="5120640" cy="2057400"/>
          </a:xfrm>
          <a:prstGeom prst="roundRect">
            <a:avLst/>
          </a:prstGeom>
          <a:solidFill>
            <a:srgbClr val="161E2E"/>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114800"/>
            <a:ext cx="4572000" cy="1691640"/>
          </a:xfrm>
          <a:prstGeom prst="rect">
            <a:avLst/>
          </a:prstGeom>
          <a:noFill/>
        </p:spPr>
        <p:txBody>
          <a:bodyPr wrap="square">
            <a:spAutoFit/>
          </a:bodyPr>
          <a:lstStyle/>
          <a:p>
            <a:pPr>
              <a:defRPr sz="1100" b="1">
                <a:solidFill>
                  <a:srgbClr val="34D399"/>
                </a:solidFill>
                <a:latin typeface="Arial"/>
              </a:defRPr>
            </a:pPr>
            <a:r>
              <a:t>GUARDRAIL 3</a:t>
            </a:r>
          </a:p>
          <a:p>
            <a:pPr>
              <a:defRPr sz="1500" b="1">
                <a:solidFill>
                  <a:srgbClr val="F8FAFC"/>
                </a:solidFill>
                <a:latin typeface="Arial"/>
              </a:defRPr>
            </a:pPr>
            <a:r>
              <a:t>OpenRouter Model Agility</a:t>
            </a:r>
          </a:p>
          <a:p>
            <a:pPr>
              <a:defRPr sz="1200">
                <a:solidFill>
                  <a:srgbClr val="94A3B8"/>
                </a:solidFill>
                <a:latin typeface="Arial"/>
              </a:defRPr>
            </a:pPr>
            <a:r>
              <a:t>Provider abstraction in LlmService allows swapping models via configuration without code changes. Fast, free models for PR summaries; high-reasoning models for synthesis.</a:t>
            </a:r>
          </a:p>
        </p:txBody>
      </p:sp>
      <p:sp>
        <p:nvSpPr>
          <p:cNvPr id="11" name="Rounded Rectangle 10"/>
          <p:cNvSpPr/>
          <p:nvPr/>
        </p:nvSpPr>
        <p:spPr>
          <a:xfrm>
            <a:off x="6309360" y="3931920"/>
            <a:ext cx="5120640" cy="2057400"/>
          </a:xfrm>
          <a:prstGeom prst="roundRect">
            <a:avLst/>
          </a:prstGeom>
          <a:solidFill>
            <a:srgbClr val="161E2E"/>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4114800"/>
            <a:ext cx="4572000" cy="1691640"/>
          </a:xfrm>
          <a:prstGeom prst="rect">
            <a:avLst/>
          </a:prstGeom>
          <a:noFill/>
        </p:spPr>
        <p:txBody>
          <a:bodyPr wrap="square">
            <a:spAutoFit/>
          </a:bodyPr>
          <a:lstStyle/>
          <a:p>
            <a:pPr>
              <a:defRPr sz="1100" b="1">
                <a:solidFill>
                  <a:srgbClr val="A855F7"/>
                </a:solidFill>
                <a:latin typeface="Arial"/>
              </a:defRPr>
            </a:pPr>
            <a:r>
              <a:t>GUARDRAIL 4</a:t>
            </a:r>
          </a:p>
          <a:p>
            <a:pPr>
              <a:defRPr sz="1500" b="1">
                <a:solidFill>
                  <a:srgbClr val="F8FAFC"/>
                </a:solidFill>
                <a:latin typeface="Arial"/>
              </a:defRPr>
            </a:pPr>
            <a:r>
              <a:t>Prompt Injection Defense</a:t>
            </a:r>
          </a:p>
          <a:p>
            <a:pPr>
              <a:defRPr sz="1200">
                <a:solidFill>
                  <a:srgbClr val="94A3B8"/>
                </a:solidFill>
                <a:latin typeface="Arial"/>
              </a:defRPr>
            </a:pPr>
            <a:r>
              <a:t>All untrusted PR diffs and descriptions are quarantined inside strict XML tags (&lt;diff&gt;...&lt;/diff&gt;). Models are instructed to treat them strictly as data, never as commands.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9144000" cy="365760"/>
          </a:xfrm>
          <a:prstGeom prst="rect">
            <a:avLst/>
          </a:prstGeom>
          <a:noFill/>
        </p:spPr>
        <p:txBody>
          <a:bodyPr wrap="square" lIns="0" tIns="0" rIns="0" bIns="0">
            <a:spAutoFit/>
          </a:bodyPr>
          <a:lstStyle/>
          <a:p>
            <a:pPr>
              <a:defRPr sz="1100" b="1">
                <a:solidFill>
                  <a:srgbClr val="38BDF8"/>
                </a:solidFill>
                <a:latin typeface="Arial"/>
              </a:defRPr>
            </a:pPr>
            <a:r>
              <a:t>ROADMAP &amp; VISION</a:t>
            </a:r>
          </a:p>
        </p:txBody>
      </p:sp>
      <p:sp>
        <p:nvSpPr>
          <p:cNvPr id="4" name="TextBox 3"/>
          <p:cNvSpPr txBox="1"/>
          <p:nvPr/>
        </p:nvSpPr>
        <p:spPr>
          <a:xfrm>
            <a:off x="731520" y="777240"/>
            <a:ext cx="10515600" cy="640080"/>
          </a:xfrm>
          <a:prstGeom prst="rect">
            <a:avLst/>
          </a:prstGeom>
          <a:noFill/>
        </p:spPr>
        <p:txBody>
          <a:bodyPr wrap="square" lIns="0" tIns="0" rIns="0" bIns="0">
            <a:spAutoFit/>
          </a:bodyPr>
          <a:lstStyle/>
          <a:p>
            <a:pPr>
              <a:defRPr sz="2400" b="1">
                <a:solidFill>
                  <a:srgbClr val="F8FAFC"/>
                </a:solidFill>
                <a:latin typeface="Arial"/>
              </a:defRPr>
            </a:pPr>
            <a:r>
              <a:t>What's Working Today &amp; What's Next</a:t>
            </a:r>
          </a:p>
          <a:p>
            <a:pPr>
              <a:defRPr sz="1300">
                <a:solidFill>
                  <a:srgbClr val="94A3B8"/>
                </a:solidFill>
                <a:latin typeface="Arial"/>
              </a:defRPr>
            </a:pPr>
            <a:r>
              <a:t>Honest engineering delivery with a clear enterprise roadmap</a:t>
            </a:r>
          </a:p>
        </p:txBody>
      </p:sp>
      <p:sp>
        <p:nvSpPr>
          <p:cNvPr id="5" name="Rounded Rectangle 4"/>
          <p:cNvSpPr/>
          <p:nvPr/>
        </p:nvSpPr>
        <p:spPr>
          <a:xfrm>
            <a:off x="731520" y="1645920"/>
            <a:ext cx="3328416" cy="4389120"/>
          </a:xfrm>
          <a:prstGeom prst="roundRect">
            <a:avLst/>
          </a:prstGeom>
          <a:solidFill>
            <a:srgbClr val="161E2E"/>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2779776" cy="3840480"/>
          </a:xfrm>
          <a:prstGeom prst="rect">
            <a:avLst/>
          </a:prstGeom>
          <a:noFill/>
        </p:spPr>
        <p:txBody>
          <a:bodyPr wrap="square">
            <a:spAutoFit/>
          </a:bodyPr>
          <a:lstStyle/>
          <a:p>
            <a:pPr>
              <a:defRPr sz="1000" b="1">
                <a:solidFill>
                  <a:srgbClr val="34D399"/>
                </a:solidFill>
                <a:latin typeface="Arial"/>
              </a:defRPr>
            </a:pPr>
            <a:r>
              <a:t>CURRENT DELIVERABLE (SHIPPED)</a:t>
            </a:r>
          </a:p>
          <a:p>
            <a:pPr>
              <a:defRPr sz="1600" b="1">
                <a:solidFill>
                  <a:srgbClr val="F8FAFC"/>
                </a:solidFill>
                <a:latin typeface="Arial"/>
              </a:defRPr>
            </a:pPr>
            <a:r>
              <a:t>Phase 1: GitHub Native</a:t>
            </a:r>
          </a:p>
          <a:p>
            <a:pPr>
              <a:defRPr sz="1200">
                <a:solidFill>
                  <a:srgbClr val="94A3B8"/>
                </a:solidFill>
                <a:latin typeface="Arial"/>
              </a:defRPr>
            </a:pPr>
            <a:r>
              <a:t>• GitHub Webhook receiver with HMAC validation</a:t>
            </a:r>
          </a:p>
          <a:p>
            <a:pPr>
              <a:defRPr sz="1200">
                <a:solidFill>
                  <a:srgbClr val="94A3B8"/>
                </a:solidFill>
                <a:latin typeface="Arial"/>
              </a:defRPr>
            </a:pPr>
            <a:r>
              <a:t>• OpenRouter PR dual-summarization pipeline</a:t>
            </a:r>
          </a:p>
          <a:p>
            <a:pPr>
              <a:defRPr sz="1200">
                <a:solidFill>
                  <a:srgbClr val="94A3B8"/>
                </a:solidFill>
                <a:latin typeface="Arial"/>
              </a:defRPr>
            </a:pPr>
            <a:r>
              <a:t>• React Debt Heatmap &amp; Unified Diff Viewer</a:t>
            </a:r>
          </a:p>
          <a:p>
            <a:pPr>
              <a:defRPr sz="1200">
                <a:solidFill>
                  <a:srgbClr val="94A3B8"/>
                </a:solidFill>
                <a:latin typeface="Arial"/>
              </a:defRPr>
            </a:pPr>
            <a:r>
              <a:t>• Automated commit sync to GitHub docs/ folder</a:t>
            </a:r>
          </a:p>
          <a:p>
            <a:pPr>
              <a:defRPr sz="1200">
                <a:solidFill>
                  <a:srgbClr val="94A3B8"/>
                </a:solidFill>
                <a:latin typeface="Arial"/>
              </a:defRPr>
            </a:pPr>
            <a:r>
              <a:t>• Tested &amp; operational in active repository</a:t>
            </a:r>
          </a:p>
        </p:txBody>
      </p:sp>
      <p:sp>
        <p:nvSpPr>
          <p:cNvPr id="7" name="Rounded Rectangle 6"/>
          <p:cNvSpPr/>
          <p:nvPr/>
        </p:nvSpPr>
        <p:spPr>
          <a:xfrm>
            <a:off x="4425696" y="1645920"/>
            <a:ext cx="3328416" cy="4389120"/>
          </a:xfrm>
          <a:prstGeom prst="roundRect">
            <a:avLst/>
          </a:prstGeom>
          <a:solidFill>
            <a:srgbClr val="161E2E"/>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00016" y="1920240"/>
            <a:ext cx="2779776" cy="3840480"/>
          </a:xfrm>
          <a:prstGeom prst="rect">
            <a:avLst/>
          </a:prstGeom>
          <a:noFill/>
        </p:spPr>
        <p:txBody>
          <a:bodyPr wrap="square">
            <a:spAutoFit/>
          </a:bodyPr>
          <a:lstStyle/>
          <a:p>
            <a:pPr>
              <a:defRPr sz="1000" b="1">
                <a:solidFill>
                  <a:srgbClr val="FBBF24"/>
                </a:solidFill>
                <a:latin typeface="Arial"/>
              </a:defRPr>
            </a:pPr>
            <a:r>
              <a:t>UPCOMING MILESTONE (IN PROTOTYPE)</a:t>
            </a:r>
          </a:p>
          <a:p>
            <a:pPr>
              <a:defRPr sz="1600" b="1">
                <a:solidFill>
                  <a:srgbClr val="F8FAFC"/>
                </a:solidFill>
                <a:latin typeface="Arial"/>
              </a:defRPr>
            </a:pPr>
            <a:r>
              <a:t>Phase 2: Cloud Storage Sync</a:t>
            </a:r>
          </a:p>
          <a:p>
            <a:pPr>
              <a:defRPr sz="1200">
                <a:solidFill>
                  <a:srgbClr val="94A3B8"/>
                </a:solidFill>
                <a:latin typeface="Arial"/>
              </a:defRPr>
            </a:pPr>
            <a:r>
              <a:t>• Microsoft SharePoint REST API connector</a:t>
            </a:r>
          </a:p>
          <a:p>
            <a:pPr>
              <a:defRPr sz="1200">
                <a:solidFill>
                  <a:srgbClr val="94A3B8"/>
                </a:solidFill>
                <a:latin typeface="Arial"/>
              </a:defRPr>
            </a:pPr>
            <a:r>
              <a:t>• Microsoft OneDrive Graph API device code auth</a:t>
            </a:r>
          </a:p>
          <a:p>
            <a:pPr>
              <a:defRPr sz="1200">
                <a:solidFill>
                  <a:srgbClr val="94A3B8"/>
                </a:solidFill>
                <a:latin typeface="Arial"/>
              </a:defRPr>
            </a:pPr>
            <a:r>
              <a:t>• DocStorageService interface already built in backend</a:t>
            </a:r>
          </a:p>
          <a:p>
            <a:pPr>
              <a:defRPr sz="1200">
                <a:solidFill>
                  <a:srgbClr val="94A3B8"/>
                </a:solidFill>
                <a:latin typeface="Arial"/>
              </a:defRPr>
            </a:pPr>
            <a:r>
              <a:t>• Bridges engineering Git docs to corporate intranets</a:t>
            </a:r>
          </a:p>
          <a:p>
            <a:pPr>
              <a:defRPr sz="1200">
                <a:solidFill>
                  <a:srgbClr val="94A3B8"/>
                </a:solidFill>
                <a:latin typeface="Arial"/>
              </a:defRPr>
            </a:pPr>
            <a:r>
              <a:t>• Requires Azure Entra ID enterprise tenant setup</a:t>
            </a:r>
          </a:p>
        </p:txBody>
      </p:sp>
      <p:sp>
        <p:nvSpPr>
          <p:cNvPr id="9" name="Rounded Rectangle 8"/>
          <p:cNvSpPr/>
          <p:nvPr/>
        </p:nvSpPr>
        <p:spPr>
          <a:xfrm>
            <a:off x="8119872" y="1645920"/>
            <a:ext cx="3328416" cy="4389120"/>
          </a:xfrm>
          <a:prstGeom prst="roundRect">
            <a:avLst/>
          </a:prstGeom>
          <a:solidFill>
            <a:srgbClr val="161E2E"/>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94192" y="1920240"/>
            <a:ext cx="2779776" cy="3840480"/>
          </a:xfrm>
          <a:prstGeom prst="rect">
            <a:avLst/>
          </a:prstGeom>
          <a:noFill/>
        </p:spPr>
        <p:txBody>
          <a:bodyPr wrap="square">
            <a:spAutoFit/>
          </a:bodyPr>
          <a:lstStyle/>
          <a:p>
            <a:pPr>
              <a:defRPr sz="1000" b="1">
                <a:solidFill>
                  <a:srgbClr val="38BDF8"/>
                </a:solidFill>
                <a:latin typeface="Arial"/>
              </a:defRPr>
            </a:pPr>
            <a:r>
              <a:t>FUTURE HORIZON (PLANNED)</a:t>
            </a:r>
          </a:p>
          <a:p>
            <a:pPr>
              <a:defRPr sz="1600" b="1">
                <a:solidFill>
                  <a:srgbClr val="F8FAFC"/>
                </a:solidFill>
                <a:latin typeface="Arial"/>
              </a:defRPr>
            </a:pPr>
            <a:r>
              <a:t>Phase 3: Review Workflows</a:t>
            </a:r>
          </a:p>
          <a:p>
            <a:pPr>
              <a:defRPr sz="1200">
                <a:solidFill>
                  <a:srgbClr val="94A3B8"/>
                </a:solidFill>
                <a:latin typeface="Arial"/>
              </a:defRPr>
            </a:pPr>
            <a:r>
              <a:t>• Open documentation updates as dedicated PRs</a:t>
            </a:r>
          </a:p>
          <a:p>
            <a:pPr>
              <a:defRPr sz="1200">
                <a:solidFill>
                  <a:srgbClr val="94A3B8"/>
                </a:solidFill>
                <a:latin typeface="Arial"/>
              </a:defRPr>
            </a:pPr>
            <a:r>
              <a:t>• Slack &amp; MS Teams alerting on high volatility</a:t>
            </a:r>
          </a:p>
          <a:p>
            <a:pPr>
              <a:defRPr sz="1200">
                <a:solidFill>
                  <a:srgbClr val="94A3B8"/>
                </a:solidFill>
                <a:latin typeface="Arial"/>
              </a:defRPr>
            </a:pPr>
            <a:r>
              <a:t>• Confluence &amp; Notion enterprise document sync</a:t>
            </a:r>
          </a:p>
          <a:p>
            <a:pPr>
              <a:defRPr sz="1200">
                <a:solidFill>
                  <a:srgbClr val="94A3B8"/>
                </a:solidFill>
                <a:latin typeface="Arial"/>
              </a:defRPr>
            </a:pPr>
            <a:r>
              <a:t>• Automated PR merge blockers for critical doc debt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